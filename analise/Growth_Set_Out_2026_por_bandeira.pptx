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Faturado Ago
1.561</c:v>
                </c:pt>
                <c:pt idx="1">
                  <c:v>Sessões
-129</c:v>
                </c:pt>
                <c:pt idx="2">
                  <c:v>CVR
-122</c:v>
                </c:pt>
                <c:pt idx="3">
                  <c:v>TKM
+36</c:v>
                </c:pt>
                <c:pt idx="4">
                  <c:v>Faturado/captado
-108</c:v>
                </c:pt>
                <c:pt idx="5">
                  <c:v>Faturado Set
1.237</c:v>
                </c:pt>
                <c:pt idx="6">
                  <c:v>Meta
1.647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1431.824719215428</c:v>
                </c:pt>
                <c:pt idx="2">
                  <c:v>1309.7504799467865</c:v>
                </c:pt>
                <c:pt idx="3">
                  <c:v>1309.7504799467865</c:v>
                </c:pt>
                <c:pt idx="4">
                  <c:v>1237.1309899999997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Faturado Ago
1.561</c:v>
                </c:pt>
                <c:pt idx="1">
                  <c:v>Sessões
-129</c:v>
                </c:pt>
                <c:pt idx="2">
                  <c:v>CVR
-122</c:v>
                </c:pt>
                <c:pt idx="3">
                  <c:v>TKM
+36</c:v>
                </c:pt>
                <c:pt idx="4">
                  <c:v>Faturado/captado
-108</c:v>
                </c:pt>
                <c:pt idx="5">
                  <c:v>Faturado Set
1.237</c:v>
                </c:pt>
                <c:pt idx="6">
                  <c:v>Meta
1.647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1561.075</c:v>
                </c:pt>
                <c:pt idx="5">
                  <c:v>1237.1309899999999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Aumento</c:v>
                </c:pt>
              </c:strCache>
            </c:strRef>
          </c:tx>
          <c:spPr>
            <a:solidFill>
              <a:srgbClr val="008300"/>
            </a:solidFill>
          </c:spPr>
          <c:cat>
            <c:strRef>
              <c:f>Sheet1!$A$2:$A$8</c:f>
              <c:strCache>
                <c:ptCount val="7"/>
                <c:pt idx="0">
                  <c:v>Faturado Ago
1.561</c:v>
                </c:pt>
                <c:pt idx="1">
                  <c:v>Sessões
-129</c:v>
                </c:pt>
                <c:pt idx="2">
                  <c:v>CVR
-122</c:v>
                </c:pt>
                <c:pt idx="3">
                  <c:v>TKM
+36</c:v>
                </c:pt>
                <c:pt idx="4">
                  <c:v>Faturado/captado
-108</c:v>
                </c:pt>
                <c:pt idx="5">
                  <c:v>Faturado Set
1.237</c:v>
                </c:pt>
                <c:pt idx="6">
                  <c:v>Meta
1.647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3">
                  <c:v>35.72042019456338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Queda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Sheet1!$A$2:$A$8</c:f>
              <c:strCache>
                <c:ptCount val="7"/>
                <c:pt idx="0">
                  <c:v>Faturado Ago
1.561</c:v>
                </c:pt>
                <c:pt idx="1">
                  <c:v>Sessões
-129</c:v>
                </c:pt>
                <c:pt idx="2">
                  <c:v>CVR
-122</c:v>
                </c:pt>
                <c:pt idx="3">
                  <c:v>TKM
+36</c:v>
                </c:pt>
                <c:pt idx="4">
                  <c:v>Faturado/captado
-108</c:v>
                </c:pt>
                <c:pt idx="5">
                  <c:v>Faturado Set
1.237</c:v>
                </c:pt>
                <c:pt idx="6">
                  <c:v>Meta
1.647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129.25028078457194</c:v>
                </c:pt>
                <c:pt idx="2">
                  <c:v>122.07423926864148</c:v>
                </c:pt>
                <c:pt idx="4">
                  <c:v>108.33991014135007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cat>
            <c:strRef>
              <c:f>Sheet1!$A$2:$A$8</c:f>
              <c:strCache>
                <c:ptCount val="7"/>
                <c:pt idx="0">
                  <c:v>Faturado Ago
1.561</c:v>
                </c:pt>
                <c:pt idx="1">
                  <c:v>Sessões
-129</c:v>
                </c:pt>
                <c:pt idx="2">
                  <c:v>CVR
-122</c:v>
                </c:pt>
                <c:pt idx="3">
                  <c:v>TKM
+36</c:v>
                </c:pt>
                <c:pt idx="4">
                  <c:v>Faturado/captado
-108</c:v>
                </c:pt>
                <c:pt idx="5">
                  <c:v>Faturado Set
1.237</c:v>
                </c:pt>
                <c:pt idx="6">
                  <c:v>Meta
1.647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6">
                  <c:v>1646.60594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680.4220444999999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Setembro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Oscar (web)</c:v>
                </c:pt>
                <c:pt idx="1">
                  <c:v>Oscar (app)</c:v>
                </c:pt>
                <c:pt idx="2">
                  <c:v>Paquetá Esportes (web)</c:v>
                </c:pt>
                <c:pt idx="3">
                  <c:v>Paquetá Calçados (web)</c:v>
                </c:pt>
                <c:pt idx="4">
                  <c:v>Grupo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81.37916905473422</c:v>
                </c:pt>
                <c:pt idx="1">
                  <c:v>81.79534393918644</c:v>
                </c:pt>
                <c:pt idx="2">
                  <c:v>60.73315726204779</c:v>
                </c:pt>
                <c:pt idx="3">
                  <c:v>87.58672157598377</c:v>
                </c:pt>
                <c:pt idx="4">
                  <c:v>75.13218311358698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01 a 05/10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Oscar (web)</c:v>
                </c:pt>
                <c:pt idx="1">
                  <c:v>Oscar (app)</c:v>
                </c:pt>
                <c:pt idx="2">
                  <c:v>Paquetá Esportes (web)</c:v>
                </c:pt>
                <c:pt idx="3">
                  <c:v>Paquetá Calçados (web)</c:v>
                </c:pt>
                <c:pt idx="4">
                  <c:v>Grupo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75.2812184097293</c:v>
                </c:pt>
                <c:pt idx="1">
                  <c:v>67.02349056304863</c:v>
                </c:pt>
                <c:pt idx="2">
                  <c:v>91.40682875222672</c:v>
                </c:pt>
                <c:pt idx="3">
                  <c:v>129.52766933432926</c:v>
                </c:pt>
                <c:pt idx="4">
                  <c:v>82.93495362738288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Faturado Ago
713</c:v>
                </c:pt>
                <c:pt idx="1">
                  <c:v>Sessões
-51</c:v>
                </c:pt>
                <c:pt idx="2">
                  <c:v>CVR
-96</c:v>
                </c:pt>
                <c:pt idx="3">
                  <c:v>TKM
+22</c:v>
                </c:pt>
                <c:pt idx="4">
                  <c:v>Faturado/captado
-83</c:v>
                </c:pt>
                <c:pt idx="5">
                  <c:v>Faturado Set
506</c:v>
                </c:pt>
                <c:pt idx="6">
                  <c:v>Meta
622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662.6823590153911</c:v>
                </c:pt>
                <c:pt idx="2">
                  <c:v>567.1685537685272</c:v>
                </c:pt>
                <c:pt idx="3">
                  <c:v>567.1685537685272</c:v>
                </c:pt>
                <c:pt idx="4">
                  <c:v>506.21999999999986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Faturado Ago
713</c:v>
                </c:pt>
                <c:pt idx="1">
                  <c:v>Sessões
-51</c:v>
                </c:pt>
                <c:pt idx="2">
                  <c:v>CVR
-96</c:v>
                </c:pt>
                <c:pt idx="3">
                  <c:v>TKM
+22</c:v>
                </c:pt>
                <c:pt idx="4">
                  <c:v>Faturado/captado
-83</c:v>
                </c:pt>
                <c:pt idx="5">
                  <c:v>Faturado Set
506</c:v>
                </c:pt>
                <c:pt idx="6">
                  <c:v>Meta
622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713.404</c:v>
                </c:pt>
                <c:pt idx="5">
                  <c:v>506.22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Aumento</c:v>
                </c:pt>
              </c:strCache>
            </c:strRef>
          </c:tx>
          <c:spPr>
            <a:solidFill>
              <a:srgbClr val="008300"/>
            </a:solidFill>
          </c:spPr>
          <c:cat>
            <c:strRef>
              <c:f>Sheet1!$A$2:$A$8</c:f>
              <c:strCache>
                <c:ptCount val="7"/>
                <c:pt idx="0">
                  <c:v>Faturado Ago
713</c:v>
                </c:pt>
                <c:pt idx="1">
                  <c:v>Sessões
-51</c:v>
                </c:pt>
                <c:pt idx="2">
                  <c:v>CVR
-96</c:v>
                </c:pt>
                <c:pt idx="3">
                  <c:v>TKM
+22</c:v>
                </c:pt>
                <c:pt idx="4">
                  <c:v>Faturado/captado
-83</c:v>
                </c:pt>
                <c:pt idx="5">
                  <c:v>Faturado Set
506</c:v>
                </c:pt>
                <c:pt idx="6">
                  <c:v>Meta
622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3">
                  <c:v>22.427628755718175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Queda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Sheet1!$A$2:$A$8</c:f>
              <c:strCache>
                <c:ptCount val="7"/>
                <c:pt idx="0">
                  <c:v>Faturado Ago
713</c:v>
                </c:pt>
                <c:pt idx="1">
                  <c:v>Sessões
-51</c:v>
                </c:pt>
                <c:pt idx="2">
                  <c:v>CVR
-96</c:v>
                </c:pt>
                <c:pt idx="3">
                  <c:v>TKM
+22</c:v>
                </c:pt>
                <c:pt idx="4">
                  <c:v>Faturado/captado
-83</c:v>
                </c:pt>
                <c:pt idx="5">
                  <c:v>Faturado Set
506</c:v>
                </c:pt>
                <c:pt idx="6">
                  <c:v>Meta
622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50.72164098460888</c:v>
                </c:pt>
                <c:pt idx="2">
                  <c:v>95.51380524686385</c:v>
                </c:pt>
                <c:pt idx="4">
                  <c:v>83.3761825242455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cat>
            <c:strRef>
              <c:f>Sheet1!$A$2:$A$8</c:f>
              <c:strCache>
                <c:ptCount val="7"/>
                <c:pt idx="0">
                  <c:v>Faturado Ago
713</c:v>
                </c:pt>
                <c:pt idx="1">
                  <c:v>Sessões
-51</c:v>
                </c:pt>
                <c:pt idx="2">
                  <c:v>CVR
-96</c:v>
                </c:pt>
                <c:pt idx="3">
                  <c:v>TKM
+22</c:v>
                </c:pt>
                <c:pt idx="4">
                  <c:v>Faturado/captado
-83</c:v>
                </c:pt>
                <c:pt idx="5">
                  <c:v>Faturado Set
506</c:v>
                </c:pt>
                <c:pt idx="6">
                  <c:v>Meta
622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6">
                  <c:v>622.05108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278.42099999999994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-17.354516862220358</c:v>
                </c:pt>
                <c:pt idx="1">
                  <c:v>-7.109806082473447</c:v>
                </c:pt>
                <c:pt idx="2">
                  <c:v>-14.413210786051046</c:v>
                </c:pt>
                <c:pt idx="3">
                  <c:v>3.954314569575268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-25.951330869973955</c:v>
                </c:pt>
                <c:pt idx="1">
                  <c:v>-4.214265004349082</c:v>
                </c:pt>
                <c:pt idx="2">
                  <c:v>-25.848788593842432</c:v>
                </c:pt>
                <c:pt idx="3">
                  <c:v>4.255306845622564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-9.236750169950481</c:v>
                </c:pt>
                <c:pt idx="1">
                  <c:v>-18.07514602039927</c:v>
                </c:pt>
                <c:pt idx="2">
                  <c:v>7.808106337242404</c:v>
                </c:pt>
                <c:pt idx="3">
                  <c:v>2.764459887057513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dPt>
            <c:idx val="7"/>
            <c:spPr>
              <a:solidFill>
                <a:srgbClr val="E34948"/>
              </a:solidFill>
            </c:spPr>
          </c:dPt>
          <c:dPt>
            <c:idx val="8"/>
            <c:spPr>
              <a:solidFill>
                <a:srgbClr val="E34948"/>
              </a:solidFill>
            </c:spPr>
          </c:dPt>
          <c:cat>
            <c:strRef>
              <c:f>Sheet1!$A$2:$A$10</c:f>
              <c:strCache>
                <c:ptCount val="9"/>
                <c:pt idx="0">
                  <c:v>crm / web_push x desktop</c:v>
                </c:pt>
                <c:pt idx="1">
                  <c:v>google / organic x mobile</c:v>
                </c:pt>
                <c:pt idx="2">
                  <c:v>google / organic x desktop</c:v>
                </c:pt>
                <c:pt idx="3">
                  <c:v>ig / source x mobile</c:v>
                </c:pt>
                <c:pt idx="4">
                  <c:v>(not set) x mobile</c:v>
                </c:pt>
                <c:pt idx="5">
                  <c:v>Meta Ads (soma das grafias) x mobile</c:v>
                </c:pt>
                <c:pt idx="6">
                  <c:v>ntp.msn.com / referral x desktop</c:v>
                </c:pt>
                <c:pt idx="7">
                  <c:v>google / cpc x desktop</c:v>
                </c:pt>
                <c:pt idx="8">
                  <c:v>google / cpc x mobile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9.296610028000003</c:v>
                </c:pt>
                <c:pt idx="1">
                  <c:v>12.70170002099999</c:v>
                </c:pt>
                <c:pt idx="2">
                  <c:v>17.757639990999998</c:v>
                </c:pt>
                <c:pt idx="3">
                  <c:v>-5.311380002000003</c:v>
                </c:pt>
                <c:pt idx="4">
                  <c:v>-6.146779966000004</c:v>
                </c:pt>
                <c:pt idx="5">
                  <c:v>-7.677229993999998</c:v>
                </c:pt>
                <c:pt idx="6">
                  <c:v>-8.558620001000001</c:v>
                </c:pt>
                <c:pt idx="7">
                  <c:v>-70.43175005500001</c:v>
                </c:pt>
                <c:pt idx="8">
                  <c:v>-129.08327994099997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-2.4808947475771004</c:v>
                </c:pt>
                <c:pt idx="1">
                  <c:v>-1.5146887776534625</c:v>
                </c:pt>
                <c:pt idx="2">
                  <c:v>-3.412565024294212</c:v>
                </c:pt>
                <c:pt idx="3">
                  <c:v>3.2107799917709956</c:v>
                </c:pt>
                <c:pt idx="4">
                  <c:v>0.3328530888452308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-3.9342036820036452</c:v>
                </c:pt>
                <c:pt idx="1">
                  <c:v>-1.698244710182733</c:v>
                </c:pt>
                <c:pt idx="2">
                  <c:v>-4.419959524026629</c:v>
                </c:pt>
                <c:pt idx="3">
                  <c:v>1.8818191913717086</c:v>
                </c:pt>
                <c:pt idx="4">
                  <c:v>-1.6280701414438936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2.810696647579858</c:v>
                </c:pt>
                <c:pt idx="1">
                  <c:v>-0.2923730714690792</c:v>
                </c:pt>
                <c:pt idx="2">
                  <c:v>0.24419561721162886</c:v>
                </c:pt>
                <c:pt idx="3">
                  <c:v>3.9938595750388717</c:v>
                </c:pt>
                <c:pt idx="4">
                  <c:v>1.6132058149653128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86.53772000000001</c:v>
                </c:pt>
                <c:pt idx="1">
                  <c:v>78.06739000000002</c:v>
                </c:pt>
                <c:pt idx="2">
                  <c:v>97.03997000000001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Faturado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65.14665</c:v>
                </c:pt>
                <c:pt idx="1">
                  <c:v>59.9456</c:v>
                </c:pt>
                <c:pt idx="2">
                  <c:v>68.98384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10.889791438799756</c:v>
                </c:pt>
                <c:pt idx="1">
                  <c:v>-21.88291584576414</c:v>
                </c:pt>
                <c:pt idx="2">
                  <c:v>32.86194679637302</c:v>
                </c:pt>
                <c:pt idx="3">
                  <c:v>6.8427187585516025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5.0591821008504345</c:v>
                </c:pt>
                <c:pt idx="1">
                  <c:v>-21.507020714583625</c:v>
                </c:pt>
                <c:pt idx="2">
                  <c:v>11.935197868868253</c:v>
                </c:pt>
                <c:pt idx="3">
                  <c:v>19.573937522678463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14.78703825383012</c:v>
                </c:pt>
                <c:pt idx="1">
                  <c:v>-23.4832790766499</c:v>
                </c:pt>
                <c:pt idx="2">
                  <c:v>51.78838867676148</c:v>
                </c:pt>
                <c:pt idx="3">
                  <c:v>-1.1679168702543818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cat>
            <c:strRef>
              <c:f>Sheet1!$A$2:$A$8</c:f>
              <c:strCache>
                <c:ptCount val="7"/>
                <c:pt idx="0">
                  <c:v>crm / web_push x desktop</c:v>
                </c:pt>
                <c:pt idx="1">
                  <c:v>(direct) / (none) x desktop</c:v>
                </c:pt>
                <c:pt idx="2">
                  <c:v>(direct) / (none) x mobile</c:v>
                </c:pt>
                <c:pt idx="3">
                  <c:v>cariocacalcados.com.br / referral x desktop</c:v>
                </c:pt>
                <c:pt idx="4">
                  <c:v>cariocacalcados.com.br / referral x mobile</c:v>
                </c:pt>
                <c:pt idx="5">
                  <c:v>google / cpc x desktop</c:v>
                </c:pt>
                <c:pt idx="6">
                  <c:v>google / cpc x mobile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6.606576998513948</c:v>
                </c:pt>
                <c:pt idx="1">
                  <c:v>8.800547034558862</c:v>
                </c:pt>
                <c:pt idx="2">
                  <c:v>11.842278785257509</c:v>
                </c:pt>
                <c:pt idx="3">
                  <c:v>-1.845889999</c:v>
                </c:pt>
                <c:pt idx="4">
                  <c:v>-1.869959997</c:v>
                </c:pt>
                <c:pt idx="5">
                  <c:v>-6.242873103282596</c:v>
                </c:pt>
                <c:pt idx="6">
                  <c:v>-6.664843679511988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Média diária 01-05</c:v>
                </c:pt>
              </c:strCache>
            </c:strRef>
          </c:tx>
          <c:spPr>
            <a:solidFill>
              <a:srgbClr val="B7B7B7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Visualização de página</c:v>
                </c:pt>
                <c:pt idx="1">
                  <c:v>Visualização de produto</c:v>
                </c:pt>
                <c:pt idx="2">
                  <c:v>Adicionado ao carrinho</c:v>
                </c:pt>
                <c:pt idx="3">
                  <c:v>Checkout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06/10 (parcial)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Visualização de página</c:v>
                </c:pt>
                <c:pt idx="1">
                  <c:v>Visualização de produto</c:v>
                </c:pt>
                <c:pt idx="2">
                  <c:v>Adicionado ao carrinho</c:v>
                </c:pt>
                <c:pt idx="3">
                  <c:v>Checkout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207</c:v>
                </c:pt>
                <c:pt idx="1">
                  <c:v>41</c:v>
                </c:pt>
                <c:pt idx="2">
                  <c:v>44</c:v>
                </c:pt>
                <c:pt idx="3">
                  <c:v>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Sessão → produto</c:v>
                </c:pt>
                <c:pt idx="1">
                  <c:v>Produto → carrinho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-7.600263882166269</c:v>
                </c:pt>
                <c:pt idx="1">
                  <c:v>-0.0020202751776804417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Sessão → produto</c:v>
                </c:pt>
                <c:pt idx="1">
                  <c:v>Produto → carrinho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-8.862528019229721</c:v>
                </c:pt>
                <c:pt idx="1">
                  <c:v>0.2411211529664642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Sessão → produto</c:v>
                </c:pt>
                <c:pt idx="1">
                  <c:v>Produto → carrinho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-2.3137583979195906</c:v>
                </c:pt>
                <c:pt idx="1">
                  <c:v>-1.6206559008656751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Faturado Ago
327</c:v>
                </c:pt>
                <c:pt idx="1">
                  <c:v>Sessões
-29</c:v>
                </c:pt>
                <c:pt idx="2">
                  <c:v>CVR
-33</c:v>
                </c:pt>
                <c:pt idx="3">
                  <c:v>TKM
+12</c:v>
                </c:pt>
                <c:pt idx="4">
                  <c:v>Faturado/captado
-8</c:v>
                </c:pt>
                <c:pt idx="5">
                  <c:v>Faturado Set
269</c:v>
                </c:pt>
                <c:pt idx="6">
                  <c:v>Meta
329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298.1611826620637</c:v>
                </c:pt>
                <c:pt idx="2">
                  <c:v>265.53966123667897</c:v>
                </c:pt>
                <c:pt idx="3">
                  <c:v>265.53966123667897</c:v>
                </c:pt>
                <c:pt idx="4">
                  <c:v>269.36949000000004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Faturado Ago
327</c:v>
                </c:pt>
                <c:pt idx="1">
                  <c:v>Sessões
-29</c:v>
                </c:pt>
                <c:pt idx="2">
                  <c:v>CVR
-33</c:v>
                </c:pt>
                <c:pt idx="3">
                  <c:v>TKM
+12</c:v>
                </c:pt>
                <c:pt idx="4">
                  <c:v>Faturado/captado
-8</c:v>
                </c:pt>
                <c:pt idx="5">
                  <c:v>Faturado Set
269</c:v>
                </c:pt>
                <c:pt idx="6">
                  <c:v>Meta
329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326.764</c:v>
                </c:pt>
                <c:pt idx="5">
                  <c:v>269.36949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Aumento</c:v>
                </c:pt>
              </c:strCache>
            </c:strRef>
          </c:tx>
          <c:spPr>
            <a:solidFill>
              <a:srgbClr val="008300"/>
            </a:solidFill>
          </c:spPr>
          <c:cat>
            <c:strRef>
              <c:f>Sheet1!$A$2:$A$8</c:f>
              <c:strCache>
                <c:ptCount val="7"/>
                <c:pt idx="0">
                  <c:v>Faturado Ago
327</c:v>
                </c:pt>
                <c:pt idx="1">
                  <c:v>Sessões
-29</c:v>
                </c:pt>
                <c:pt idx="2">
                  <c:v>CVR
-33</c:v>
                </c:pt>
                <c:pt idx="3">
                  <c:v>TKM
+12</c:v>
                </c:pt>
                <c:pt idx="4">
                  <c:v>Faturado/captado
-8</c:v>
                </c:pt>
                <c:pt idx="5">
                  <c:v>Faturado Set
269</c:v>
                </c:pt>
                <c:pt idx="6">
                  <c:v>Meta
329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3">
                  <c:v>11.771172411370328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Queda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Sheet1!$A$2:$A$8</c:f>
              <c:strCache>
                <c:ptCount val="7"/>
                <c:pt idx="0">
                  <c:v>Faturado Ago
327</c:v>
                </c:pt>
                <c:pt idx="1">
                  <c:v>Sessões
-29</c:v>
                </c:pt>
                <c:pt idx="2">
                  <c:v>CVR
-33</c:v>
                </c:pt>
                <c:pt idx="3">
                  <c:v>TKM
+12</c:v>
                </c:pt>
                <c:pt idx="4">
                  <c:v>Faturado/captado
-8</c:v>
                </c:pt>
                <c:pt idx="5">
                  <c:v>Faturado Set
269</c:v>
                </c:pt>
                <c:pt idx="6">
                  <c:v>Meta
329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28.602817337936326</c:v>
                </c:pt>
                <c:pt idx="2">
                  <c:v>32.62152142538475</c:v>
                </c:pt>
                <c:pt idx="4">
                  <c:v>7.941343648049259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cat>
            <c:strRef>
              <c:f>Sheet1!$A$2:$A$8</c:f>
              <c:strCache>
                <c:ptCount val="7"/>
                <c:pt idx="0">
                  <c:v>Faturado Ago
327</c:v>
                </c:pt>
                <c:pt idx="1">
                  <c:v>Sessões
-29</c:v>
                </c:pt>
                <c:pt idx="2">
                  <c:v>CVR
-33</c:v>
                </c:pt>
                <c:pt idx="3">
                  <c:v>TKM
+12</c:v>
                </c:pt>
                <c:pt idx="4">
                  <c:v>Faturado/captado
-8</c:v>
                </c:pt>
                <c:pt idx="5">
                  <c:v>Faturado Set
269</c:v>
                </c:pt>
                <c:pt idx="6">
                  <c:v>Meta
329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6">
                  <c:v>329.3213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46.04681368017344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-14.781721229640443</c:v>
                </c:pt>
                <c:pt idx="1">
                  <c:v>-8.753356348293062</c:v>
                </c:pt>
                <c:pt idx="2">
                  <c:v>-10.568095327212411</c:v>
                </c:pt>
                <c:pt idx="3">
                  <c:v>4.429543425913862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Android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-6.203393266819235</c:v>
                </c:pt>
                <c:pt idx="1">
                  <c:v>-7.749754121588959</c:v>
                </c:pt>
                <c:pt idx="2">
                  <c:v>-10.149563745472733</c:v>
                </c:pt>
                <c:pt idx="3">
                  <c:v>13.161684795191352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-24.46582615567463</c:v>
                </c:pt>
                <c:pt idx="1">
                  <c:v>-12.057516052905992</c:v>
                </c:pt>
                <c:pt idx="2">
                  <c:v>-9.279425105391415</c:v>
                </c:pt>
                <c:pt idx="3">
                  <c:v>-5.324204776808161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dPt>
            <c:idx val="7"/>
            <c:spPr>
              <a:solidFill>
                <a:srgbClr val="E34948"/>
              </a:solidFill>
            </c:spPr>
          </c:dPt>
          <c:dPt>
            <c:idx val="8"/>
            <c:spPr>
              <a:solidFill>
                <a:srgbClr val="E34948"/>
              </a:solidFill>
            </c:spPr>
          </c:dPt>
          <c:cat>
            <c:strRef>
              <c:f>Sheet1!$A$2:$A$10</c:f>
              <c:strCache>
                <c:ptCount val="9"/>
                <c:pt idx="0">
                  <c:v>Push (soma das grafias) x iOS</c:v>
                </c:pt>
                <c:pt idx="1">
                  <c:v>google / organic x iOS</c:v>
                </c:pt>
                <c:pt idx="2">
                  <c:v>(direct) / (none) x Android</c:v>
                </c:pt>
                <c:pt idx="3">
                  <c:v>Meta Ads (soma das grafias) x iOS</c:v>
                </c:pt>
                <c:pt idx="4">
                  <c:v>Push (soma das grafias) x Android</c:v>
                </c:pt>
                <c:pt idx="5">
                  <c:v>(direct) / (none) x iOS</c:v>
                </c:pt>
                <c:pt idx="6">
                  <c:v>google / cpc x Android</c:v>
                </c:pt>
                <c:pt idx="7">
                  <c:v>google-play / organic x Android</c:v>
                </c:pt>
                <c:pt idx="8">
                  <c:v>google / cpc x iOS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2.4331299729999993</c:v>
                </c:pt>
                <c:pt idx="1">
                  <c:v>4.531859997</c:v>
                </c:pt>
                <c:pt idx="2">
                  <c:v>8.299879999000005</c:v>
                </c:pt>
                <c:pt idx="3">
                  <c:v>-0.8014400009999999</c:v>
                </c:pt>
                <c:pt idx="4">
                  <c:v>-2.3037699870000035</c:v>
                </c:pt>
                <c:pt idx="5">
                  <c:v>-4.0182499550000355</c:v>
                </c:pt>
                <c:pt idx="6">
                  <c:v>-4.8035100569999925</c:v>
                </c:pt>
                <c:pt idx="7">
                  <c:v>-6.17827</c:v>
                </c:pt>
                <c:pt idx="8">
                  <c:v>-24.112140022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-2.983151242104448</c:v>
                </c:pt>
                <c:pt idx="1">
                  <c:v>-2.0894010859872694</c:v>
                </c:pt>
                <c:pt idx="2">
                  <c:v>1.1918020247392025</c:v>
                </c:pt>
                <c:pt idx="3">
                  <c:v>-1.838034162410196</c:v>
                </c:pt>
                <c:pt idx="4">
                  <c:v>-1.816044068354461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Android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-2.099706413272778</c:v>
                </c:pt>
                <c:pt idx="1">
                  <c:v>-2.2173047482132446</c:v>
                </c:pt>
                <c:pt idx="2">
                  <c:v>1.2323843778266619</c:v>
                </c:pt>
                <c:pt idx="3">
                  <c:v>-1.5663110558005455</c:v>
                </c:pt>
                <c:pt idx="4">
                  <c:v>-1.987777730856699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-4.986087364955605</c:v>
                </c:pt>
                <c:pt idx="1">
                  <c:v>-1.5372680534073424</c:v>
                </c:pt>
                <c:pt idx="2">
                  <c:v>1.3717145362390104</c:v>
                </c:pt>
                <c:pt idx="3">
                  <c:v>-2.124889895762566</c:v>
                </c:pt>
                <c:pt idx="4">
                  <c:v>-1.573980451634649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51.76036</c:v>
                </c:pt>
                <c:pt idx="1">
                  <c:v>41.32982</c:v>
                </c:pt>
                <c:pt idx="2">
                  <c:v>51.37412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Faturado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34.6916</c:v>
                </c:pt>
                <c:pt idx="1">
                  <c:v>30.47463</c:v>
                </c:pt>
                <c:pt idx="2">
                  <c:v>36.16066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vs 03-07/09</c:v>
                </c:pt>
              </c:strCache>
            </c:strRef>
          </c:tx>
          <c:spPr>
            <a:solidFill>
              <a:srgbClr val="B7B7B7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Geral</c:v>
                </c:pt>
                <c:pt idx="1">
                  <c:v>Android</c:v>
                </c:pt>
                <c:pt idx="2">
                  <c:v>iOS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0.3728181664124808</c:v>
                </c:pt>
                <c:pt idx="1">
                  <c:v>0.6244616709732975</c:v>
                </c:pt>
                <c:pt idx="2">
                  <c:v>-0.5568814638027053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24-28/09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Geral</c:v>
                </c:pt>
                <c:pt idx="1">
                  <c:v>Android</c:v>
                </c:pt>
                <c:pt idx="2">
                  <c:v>iOS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7.828144911705803</c:v>
                </c:pt>
                <c:pt idx="1">
                  <c:v>8.460020888940466</c:v>
                </c:pt>
                <c:pt idx="2">
                  <c:v>5.529759392148592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E34948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cat>
            <c:strRef>
              <c:f>Sheet1!$A$2:$A$8</c:f>
              <c:strCache>
                <c:ptCount val="7"/>
                <c:pt idx="0">
                  <c:v>(direct) / (none) x iOS</c:v>
                </c:pt>
                <c:pt idx="1">
                  <c:v>google / cpc x Android</c:v>
                </c:pt>
                <c:pt idx="2">
                  <c:v>crm / email x iOS</c:v>
                </c:pt>
                <c:pt idx="3">
                  <c:v>google / cpc x iOS</c:v>
                </c:pt>
                <c:pt idx="4">
                  <c:v>Push (soma das grafias) x iOS</c:v>
                </c:pt>
                <c:pt idx="5">
                  <c:v>apps.facebook.com / (not set) x Android</c:v>
                </c:pt>
                <c:pt idx="6">
                  <c:v>Push (soma das grafias) x Android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226.0</c:v>
                </c:pt>
                <c:pt idx="1">
                  <c:v>782.0</c:v>
                </c:pt>
                <c:pt idx="2">
                  <c:v>-19.0</c:v>
                </c:pt>
                <c:pt idx="3">
                  <c:v>-35.0</c:v>
                </c:pt>
                <c:pt idx="4">
                  <c:v>-43.0</c:v>
                </c:pt>
                <c:pt idx="5">
                  <c:v>-70.0</c:v>
                </c:pt>
                <c:pt idx="6">
                  <c:v>-461.0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;-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-1.3459076891944755</c:v>
                </c:pt>
                <c:pt idx="1">
                  <c:v>-3.4132836838006275</c:v>
                </c:pt>
                <c:pt idx="2">
                  <c:v>0.3858866914571546</c:v>
                </c:pt>
                <c:pt idx="3">
                  <c:v>-4.475447973164448</c:v>
                </c:pt>
                <c:pt idx="4">
                  <c:v>-0.4833612195575432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Android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-0.5690898403837796</c:v>
                </c:pt>
                <c:pt idx="1">
                  <c:v>-3.887509405568096</c:v>
                </c:pt>
                <c:pt idx="2">
                  <c:v>1.577214767897328</c:v>
                </c:pt>
                <c:pt idx="3">
                  <c:v>-3.1726907630522105</c:v>
                </c:pt>
                <c:pt idx="4">
                  <c:v>-8.811965811965816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iOS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-4.99034192659864</c:v>
                </c:pt>
                <c:pt idx="1">
                  <c:v>-2.1963568104906903</c:v>
                </c:pt>
                <c:pt idx="2">
                  <c:v>-1.995375050195941</c:v>
                </c:pt>
                <c:pt idx="3">
                  <c:v>-6.6340370326689495</c:v>
                </c:pt>
                <c:pt idx="4">
                  <c:v>11.992945326278658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Faturado Ago
383</c:v>
                </c:pt>
                <c:pt idx="1">
                  <c:v>Sessões
-49</c:v>
                </c:pt>
                <c:pt idx="2">
                  <c:v>CVR
+5</c:v>
                </c:pt>
                <c:pt idx="3">
                  <c:v>TKM
+12</c:v>
                </c:pt>
                <c:pt idx="4">
                  <c:v>Faturado/captado
-17</c:v>
                </c:pt>
                <c:pt idx="5">
                  <c:v>Faturado Set
333</c:v>
                </c:pt>
                <c:pt idx="6">
                  <c:v>Meta
549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333.89904050409905</c:v>
                </c:pt>
                <c:pt idx="2">
                  <c:v>333.89904050409905</c:v>
                </c:pt>
                <c:pt idx="3">
                  <c:v>338.4503186328555</c:v>
                </c:pt>
                <c:pt idx="4">
                  <c:v>333.3452299999999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Faturado Ago
383</c:v>
                </c:pt>
                <c:pt idx="1">
                  <c:v>Sessões
-49</c:v>
                </c:pt>
                <c:pt idx="2">
                  <c:v>CVR
+5</c:v>
                </c:pt>
                <c:pt idx="3">
                  <c:v>TKM
+12</c:v>
                </c:pt>
                <c:pt idx="4">
                  <c:v>Faturado/captado
-17</c:v>
                </c:pt>
                <c:pt idx="5">
                  <c:v>Faturado Set
333</c:v>
                </c:pt>
                <c:pt idx="6">
                  <c:v>Meta
549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383.239</c:v>
                </c:pt>
                <c:pt idx="5">
                  <c:v>333.34522999999996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Aumento</c:v>
                </c:pt>
              </c:strCache>
            </c:strRef>
          </c:tx>
          <c:spPr>
            <a:solidFill>
              <a:srgbClr val="008300"/>
            </a:solidFill>
          </c:spPr>
          <c:cat>
            <c:strRef>
              <c:f>Sheet1!$A$2:$A$8</c:f>
              <c:strCache>
                <c:ptCount val="7"/>
                <c:pt idx="0">
                  <c:v>Faturado Ago
383</c:v>
                </c:pt>
                <c:pt idx="1">
                  <c:v>Sessões
-49</c:v>
                </c:pt>
                <c:pt idx="2">
                  <c:v>CVR
+5</c:v>
                </c:pt>
                <c:pt idx="3">
                  <c:v>TKM
+12</c:v>
                </c:pt>
                <c:pt idx="4">
                  <c:v>Faturado/captado
-17</c:v>
                </c:pt>
                <c:pt idx="5">
                  <c:v>Faturado Set
333</c:v>
                </c:pt>
                <c:pt idx="6">
                  <c:v>Meta
549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2">
                  <c:v>4.551278128756475</c:v>
                </c:pt>
                <c:pt idx="3">
                  <c:v>11.753065929543867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Queda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Sheet1!$A$2:$A$8</c:f>
              <c:strCache>
                <c:ptCount val="7"/>
                <c:pt idx="0">
                  <c:v>Faturado Ago
383</c:v>
                </c:pt>
                <c:pt idx="1">
                  <c:v>Sessões
-49</c:v>
                </c:pt>
                <c:pt idx="2">
                  <c:v>CVR
+5</c:v>
                </c:pt>
                <c:pt idx="3">
                  <c:v>TKM
+12</c:v>
                </c:pt>
                <c:pt idx="4">
                  <c:v>Faturado/captado
-17</c:v>
                </c:pt>
                <c:pt idx="5">
                  <c:v>Faturado Set
333</c:v>
                </c:pt>
                <c:pt idx="6">
                  <c:v>Meta
549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49.33995949590092</c:v>
                </c:pt>
                <c:pt idx="4">
                  <c:v>16.858154562399502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cat>
            <c:strRef>
              <c:f>Sheet1!$A$2:$A$8</c:f>
              <c:strCache>
                <c:ptCount val="7"/>
                <c:pt idx="0">
                  <c:v>Faturado Ago
383</c:v>
                </c:pt>
                <c:pt idx="1">
                  <c:v>Sessões
-49</c:v>
                </c:pt>
                <c:pt idx="2">
                  <c:v>CVR
+5</c:v>
                </c:pt>
                <c:pt idx="3">
                  <c:v>TKM
+12</c:v>
                </c:pt>
                <c:pt idx="4">
                  <c:v>Faturado/captado
-17</c:v>
                </c:pt>
                <c:pt idx="5">
                  <c:v>Faturado Set
333</c:v>
                </c:pt>
                <c:pt idx="6">
                  <c:v>Meta
549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6">
                  <c:v>548.8686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183.33987649999997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-8.620107932021682</c:v>
                </c:pt>
                <c:pt idx="1">
                  <c:v>-12.874462018714405</c:v>
                </c:pt>
                <c:pt idx="2">
                  <c:v>1.3630701429645509</c:v>
                </c:pt>
                <c:pt idx="3">
                  <c:v>3.472611867236375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-6.473742198071264</c:v>
                </c:pt>
                <c:pt idx="1">
                  <c:v>-13.35282743008065</c:v>
                </c:pt>
                <c:pt idx="2">
                  <c:v>5.793026994270201</c:v>
                </c:pt>
                <c:pt idx="3">
                  <c:v>2.0286448748313424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-16.037482795949042</c:v>
                </c:pt>
                <c:pt idx="1">
                  <c:v>-10.66198769604021</c:v>
                </c:pt>
                <c:pt idx="2">
                  <c:v>-14.502340517874767</c:v>
                </c:pt>
                <c:pt idx="3">
                  <c:v>9.924611339514078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dPt>
            <c:idx val="7"/>
            <c:spPr>
              <a:solidFill>
                <a:srgbClr val="E34948"/>
              </a:solidFill>
            </c:spPr>
          </c:dPt>
          <c:dPt>
            <c:idx val="8"/>
            <c:spPr>
              <a:solidFill>
                <a:srgbClr val="E34948"/>
              </a:solidFill>
            </c:spPr>
          </c:dPt>
          <c:cat>
            <c:strRef>
              <c:f>Sheet1!$A$2:$A$10</c:f>
              <c:strCache>
                <c:ptCount val="9"/>
                <c:pt idx="0">
                  <c:v>(not set) x mobile</c:v>
                </c:pt>
                <c:pt idx="1">
                  <c:v>beacons.ai / referral x mobile</c:v>
                </c:pt>
                <c:pt idx="2">
                  <c:v>l.instagram.com / referral x mobile</c:v>
                </c:pt>
                <c:pt idx="3">
                  <c:v>lojaspaqueta.com.br / referral x desktop</c:v>
                </c:pt>
                <c:pt idx="4">
                  <c:v>linktr.ee / referral x mobile</c:v>
                </c:pt>
                <c:pt idx="5">
                  <c:v>google / cpc x desktop</c:v>
                </c:pt>
                <c:pt idx="6">
                  <c:v>google / organic x desktop</c:v>
                </c:pt>
                <c:pt idx="7">
                  <c:v>(direct) / (none) x desktop</c:v>
                </c:pt>
                <c:pt idx="8">
                  <c:v>google / cpc x mobile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0.9949099989999995</c:v>
                </c:pt>
                <c:pt idx="1">
                  <c:v>1.429939997</c:v>
                </c:pt>
                <c:pt idx="2">
                  <c:v>6.081850005</c:v>
                </c:pt>
                <c:pt idx="3">
                  <c:v>-1.8108299990000014</c:v>
                </c:pt>
                <c:pt idx="4">
                  <c:v>-2.86785</c:v>
                </c:pt>
                <c:pt idx="5">
                  <c:v>-2.8863799939999955</c:v>
                </c:pt>
                <c:pt idx="6">
                  <c:v>-3.7879000080000007</c:v>
                </c:pt>
                <c:pt idx="7">
                  <c:v>-3.9407200029999996</c:v>
                </c:pt>
                <c:pt idx="8">
                  <c:v>-22.062399974999977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-3.4122448523943527</c:v>
                </c:pt>
                <c:pt idx="1">
                  <c:v>0.7862486060655496</c:v>
                </c:pt>
                <c:pt idx="2">
                  <c:v>-2.2154149835810766</c:v>
                </c:pt>
                <c:pt idx="3">
                  <c:v>-3.9233279061875903</c:v>
                </c:pt>
                <c:pt idx="4">
                  <c:v>1.956080637234625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-3.9507668973253307</c:v>
                </c:pt>
                <c:pt idx="1">
                  <c:v>0.8362842180338239</c:v>
                </c:pt>
                <c:pt idx="2">
                  <c:v>-1.7979980268035822</c:v>
                </c:pt>
                <c:pt idx="3">
                  <c:v>-2.775546085417541</c:v>
                </c:pt>
                <c:pt idx="4">
                  <c:v>3.129176532491451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-1.005820371208821</c:v>
                </c:pt>
                <c:pt idx="1">
                  <c:v>0.6038332359237022</c:v>
                </c:pt>
                <c:pt idx="2">
                  <c:v>-4.4266972053121245</c:v>
                </c:pt>
                <c:pt idx="3">
                  <c:v>-9.52059281788773</c:v>
                </c:pt>
                <c:pt idx="4">
                  <c:v>-2.0917087927397215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56.41177</c:v>
                </c:pt>
                <c:pt idx="1">
                  <c:v>68.88302</c:v>
                </c:pt>
                <c:pt idx="2">
                  <c:v>85.62351000000001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Faturado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51.564209999999996</c:v>
                </c:pt>
                <c:pt idx="1">
                  <c:v>43.04668</c:v>
                </c:pt>
                <c:pt idx="2">
                  <c:v>50.35045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13.111056585299675</c:v>
                </c:pt>
                <c:pt idx="1">
                  <c:v>-11.173297030202189</c:v>
                </c:pt>
                <c:pt idx="2">
                  <c:v>22.137333043447537</c:v>
                </c:pt>
                <c:pt idx="3">
                  <c:v>4.258886939493589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20.943074132055408</c:v>
                </c:pt>
                <c:pt idx="1">
                  <c:v>-13.19009069328626</c:v>
                </c:pt>
                <c:pt idx="2">
                  <c:v>27.993580454665867</c:v>
                </c:pt>
                <c:pt idx="3">
                  <c:v>8.848766718849866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-7.277752486163491</c:v>
                </c:pt>
                <c:pt idx="1">
                  <c:v>-1.9904931669637582</c:v>
                </c:pt>
                <c:pt idx="2">
                  <c:v>2.0309184601394303</c:v>
                </c:pt>
                <c:pt idx="3">
                  <c:v>-7.277752486163491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cat>
            <c:strRef>
              <c:f>Sheet1!$A$2:$A$8</c:f>
              <c:strCache>
                <c:ptCount val="7"/>
                <c:pt idx="0">
                  <c:v>(direct) / (none) x desktop</c:v>
                </c:pt>
                <c:pt idx="1">
                  <c:v>(direct) / (none) x mobile</c:v>
                </c:pt>
                <c:pt idx="2">
                  <c:v>google / cpc x mobile</c:v>
                </c:pt>
                <c:pt idx="3">
                  <c:v>l.instagram.com / referral x mobile</c:v>
                </c:pt>
                <c:pt idx="4">
                  <c:v>bing / organic x desktop</c:v>
                </c:pt>
                <c:pt idx="5">
                  <c:v>google / cpc x desktop</c:v>
                </c:pt>
                <c:pt idx="6">
                  <c:v>google / organic x mobile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1.7460699979999998</c:v>
                </c:pt>
                <c:pt idx="1">
                  <c:v>2.4597200050000008</c:v>
                </c:pt>
                <c:pt idx="2">
                  <c:v>6.906359983999999</c:v>
                </c:pt>
                <c:pt idx="3">
                  <c:v>-0.8489700059999999</c:v>
                </c:pt>
                <c:pt idx="4">
                  <c:v>-1.149979998</c:v>
                </c:pt>
                <c:pt idx="5">
                  <c:v>-2.0538100029999997</c:v>
                </c:pt>
                <c:pt idx="6">
                  <c:v>-2.12996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-0.3366333299556157</c:v>
                </c:pt>
                <c:pt idx="1">
                  <c:v>-1.5406314881396266</c:v>
                </c:pt>
                <c:pt idx="2">
                  <c:v>0.6944792449678383</c:v>
                </c:pt>
                <c:pt idx="3">
                  <c:v>9.08394036579403</c:v>
                </c:pt>
                <c:pt idx="4">
                  <c:v>0.9697209578468313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-0.10277164084631085</c:v>
                </c:pt>
                <c:pt idx="1">
                  <c:v>-1.584010322366944</c:v>
                </c:pt>
                <c:pt idx="2">
                  <c:v>2.7004419191919204</c:v>
                </c:pt>
                <c:pt idx="3">
                  <c:v>8.691379004235678</c:v>
                </c:pt>
                <c:pt idx="4">
                  <c:v>3.925167248830741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-1.3727343093887345</c:v>
                </c:pt>
                <c:pt idx="1">
                  <c:v>-1.3501366062201827</c:v>
                </c:pt>
                <c:pt idx="2">
                  <c:v>-8.235294117647063</c:v>
                </c:pt>
                <c:pt idx="3">
                  <c:v>10.659439927732612</c:v>
                </c:pt>
                <c:pt idx="4">
                  <c:v>-12.619047619047619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Faturado Ago
137.7</c:v>
                </c:pt>
                <c:pt idx="1">
                  <c:v>Sessões
-0.6</c:v>
                </c:pt>
                <c:pt idx="2">
                  <c:v>CVR
+1.5</c:v>
                </c:pt>
                <c:pt idx="3">
                  <c:v>TKM
-10.2</c:v>
                </c:pt>
                <c:pt idx="4">
                  <c:v>Faturado/captado
-0.2</c:v>
                </c:pt>
                <c:pt idx="5">
                  <c:v>Faturado Set
128.2</c:v>
                </c:pt>
                <c:pt idx="6">
                  <c:v>Meta
146.4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1">
                  <c:v>137.08213703387418</c:v>
                </c:pt>
                <c:pt idx="2">
                  <c:v>137.08213703387418</c:v>
                </c:pt>
                <c:pt idx="3">
                  <c:v>128.36049940665583</c:v>
                </c:pt>
                <c:pt idx="4">
                  <c:v>128.19627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Faturado Ago
137.7</c:v>
                </c:pt>
                <c:pt idx="1">
                  <c:v>Sessões
-0.6</c:v>
                </c:pt>
                <c:pt idx="2">
                  <c:v>CVR
+1.5</c:v>
                </c:pt>
                <c:pt idx="3">
                  <c:v>TKM
-10.2</c:v>
                </c:pt>
                <c:pt idx="4">
                  <c:v>Faturado/captado
-0.2</c:v>
                </c:pt>
                <c:pt idx="5">
                  <c:v>Faturado Set
128.2</c:v>
                </c:pt>
                <c:pt idx="6">
                  <c:v>Meta
146.4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137.668</c:v>
                </c:pt>
                <c:pt idx="5">
                  <c:v>128.19627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Aumento</c:v>
                </c:pt>
              </c:strCache>
            </c:strRef>
          </c:tx>
          <c:spPr>
            <a:solidFill>
              <a:srgbClr val="008300"/>
            </a:solidFill>
          </c:spPr>
          <c:cat>
            <c:strRef>
              <c:f>Sheet1!$A$2:$A$8</c:f>
              <c:strCache>
                <c:ptCount val="7"/>
                <c:pt idx="0">
                  <c:v>Faturado Ago
137.7</c:v>
                </c:pt>
                <c:pt idx="1">
                  <c:v>Sessões
-0.6</c:v>
                </c:pt>
                <c:pt idx="2">
                  <c:v>CVR
+1.5</c:v>
                </c:pt>
                <c:pt idx="3">
                  <c:v>TKM
-10.2</c:v>
                </c:pt>
                <c:pt idx="4">
                  <c:v>Faturado/captado
-0.2</c:v>
                </c:pt>
                <c:pt idx="5">
                  <c:v>Faturado Set
128.2</c:v>
                </c:pt>
                <c:pt idx="6">
                  <c:v>Meta
146.4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2">
                  <c:v>1.5098092748506464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Queda</c:v>
                </c:pt>
              </c:strCache>
            </c:strRef>
          </c:tx>
          <c:spPr>
            <a:solidFill>
              <a:srgbClr val="E34948"/>
            </a:solidFill>
          </c:spPr>
          <c:cat>
            <c:strRef>
              <c:f>Sheet1!$A$2:$A$8</c:f>
              <c:strCache>
                <c:ptCount val="7"/>
                <c:pt idx="0">
                  <c:v>Faturado Ago
137.7</c:v>
                </c:pt>
                <c:pt idx="1">
                  <c:v>Sessões
-0.6</c:v>
                </c:pt>
                <c:pt idx="2">
                  <c:v>CVR
+1.5</c:v>
                </c:pt>
                <c:pt idx="3">
                  <c:v>TKM
-10.2</c:v>
                </c:pt>
                <c:pt idx="4">
                  <c:v>Faturado/captado
-0.2</c:v>
                </c:pt>
                <c:pt idx="5">
                  <c:v>Faturado Set
128.2</c:v>
                </c:pt>
                <c:pt idx="6">
                  <c:v>Meta
146.4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1">
                  <c:v>0.5858629661258183</c:v>
                </c:pt>
                <c:pt idx="3">
                  <c:v>10.231446902068987</c:v>
                </c:pt>
                <c:pt idx="4">
                  <c:v>0.1642294066558239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cat>
            <c:strRef>
              <c:f>Sheet1!$A$2:$A$8</c:f>
              <c:strCache>
                <c:ptCount val="7"/>
                <c:pt idx="0">
                  <c:v>Faturado Ago
137.7</c:v>
                </c:pt>
                <c:pt idx="1">
                  <c:v>Sessões
-0.6</c:v>
                </c:pt>
                <c:pt idx="2">
                  <c:v>CVR
+1.5</c:v>
                </c:pt>
                <c:pt idx="3">
                  <c:v>TKM
-10.2</c:v>
                </c:pt>
                <c:pt idx="4">
                  <c:v>Faturado/captado
-0.2</c:v>
                </c:pt>
                <c:pt idx="5">
                  <c:v>Faturado Set
128.2</c:v>
                </c:pt>
                <c:pt idx="6">
                  <c:v>Meta
146.4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6">
                  <c:v>146.36496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70.50794850000001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-6.760830834576059</c:v>
                </c:pt>
                <c:pt idx="1">
                  <c:v>-0.4255621975519541</c:v>
                </c:pt>
                <c:pt idx="2">
                  <c:v>1.1013902376482143</c:v>
                </c:pt>
                <c:pt idx="3">
                  <c:v>-7.382425295678874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-1.0123310057767454</c:v>
                </c:pt>
                <c:pt idx="1">
                  <c:v>-0.39391420620866757</c:v>
                </c:pt>
                <c:pt idx="2">
                  <c:v>1.8983982546481037</c:v>
                </c:pt>
                <c:pt idx="3">
                  <c:v>-2.472326123685631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-22.90334104049746</c:v>
                </c:pt>
                <c:pt idx="1">
                  <c:v>-0.7133152173913082</c:v>
                </c:pt>
                <c:pt idx="2">
                  <c:v>-1.0641872969642696</c:v>
                </c:pt>
                <c:pt idx="3">
                  <c:v>-21.514212050236146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dPt>
            <c:idx val="7"/>
            <c:spPr>
              <a:solidFill>
                <a:srgbClr val="E34948"/>
              </a:solidFill>
            </c:spPr>
          </c:dPt>
          <c:dPt>
            <c:idx val="8"/>
            <c:spPr>
              <a:solidFill>
                <a:srgbClr val="E34948"/>
              </a:solidFill>
            </c:spPr>
          </c:dPt>
          <c:cat>
            <c:strRef>
              <c:f>Sheet1!$A$2:$A$10</c:f>
              <c:strCache>
                <c:ptCount val="9"/>
                <c:pt idx="0">
                  <c:v>linktr.ee / referral x mobile</c:v>
                </c:pt>
                <c:pt idx="1">
                  <c:v>(direct) / (none) x mobile</c:v>
                </c:pt>
                <c:pt idx="2">
                  <c:v>google / cpc x mobile</c:v>
                </c:pt>
                <c:pt idx="3">
                  <c:v>referral / gaston x desktop</c:v>
                </c:pt>
                <c:pt idx="4">
                  <c:v>paquetaesportes.com.br / referral x desktop</c:v>
                </c:pt>
                <c:pt idx="5">
                  <c:v>bing / organic x desktop</c:v>
                </c:pt>
                <c:pt idx="6">
                  <c:v>(not set) x desktop</c:v>
                </c:pt>
                <c:pt idx="7">
                  <c:v>referral / gaston x mobile</c:v>
                </c:pt>
                <c:pt idx="8">
                  <c:v>Meta Ads (soma das grafias) x mobile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0.814709996</c:v>
                </c:pt>
                <c:pt idx="1">
                  <c:v>1.7942599950000004</c:v>
                </c:pt>
                <c:pt idx="2">
                  <c:v>2.7961100379999917</c:v>
                </c:pt>
                <c:pt idx="3">
                  <c:v>-1.142520003</c:v>
                </c:pt>
                <c:pt idx="4">
                  <c:v>-1.3556100049999995</c:v>
                </c:pt>
                <c:pt idx="5">
                  <c:v>-1.5675199899999999</c:v>
                </c:pt>
                <c:pt idx="6">
                  <c:v>-1.747659999</c:v>
                </c:pt>
                <c:pt idx="7">
                  <c:v>-2.025930002</c:v>
                </c:pt>
                <c:pt idx="8">
                  <c:v>-4.322159994000001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3.559192775356068</c:v>
                </c:pt>
                <c:pt idx="1">
                  <c:v>-0.9234717354125038</c:v>
                </c:pt>
                <c:pt idx="2">
                  <c:v>-1.304796799168706</c:v>
                </c:pt>
                <c:pt idx="3">
                  <c:v>2.4502177552635396</c:v>
                </c:pt>
                <c:pt idx="4">
                  <c:v>1.0589587048977944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3.858465620661411</c:v>
                </c:pt>
                <c:pt idx="1">
                  <c:v>-0.9413529716680789</c:v>
                </c:pt>
                <c:pt idx="2">
                  <c:v>-0.2590155642543057</c:v>
                </c:pt>
                <c:pt idx="3">
                  <c:v>1.92538622089643</c:v>
                </c:pt>
                <c:pt idx="4">
                  <c:v>0.9705318909172922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2.3031411592413176</c:v>
                </c:pt>
                <c:pt idx="1">
                  <c:v>-0.8519040575818801</c:v>
                </c:pt>
                <c:pt idx="2">
                  <c:v>-5.822119240709389</c:v>
                </c:pt>
                <c:pt idx="3">
                  <c:v>5.0895155978683935</c:v>
                </c:pt>
                <c:pt idx="4">
                  <c:v>1.846590909090906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B7B7B7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21.634420000000002</c:v>
                </c:pt>
                <c:pt idx="1">
                  <c:v>18.368800000000004</c:v>
                </c:pt>
                <c:pt idx="2">
                  <c:v>22.83293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Faturado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01 a 05/10</c:v>
                </c:pt>
                <c:pt idx="1">
                  <c:v>03-07/09</c:v>
                </c:pt>
                <c:pt idx="2">
                  <c:v>24-28/09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28.022560000000002</c:v>
                </c:pt>
                <c:pt idx="1">
                  <c:v>16.4817</c:v>
                </c:pt>
                <c:pt idx="2">
                  <c:v>21.346619999999998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34.15166408681134</c:v>
                </c:pt>
                <c:pt idx="1">
                  <c:v>-0.12252591894439391</c:v>
                </c:pt>
                <c:pt idx="2">
                  <c:v>24.152118524110612</c:v>
                </c:pt>
                <c:pt idx="3">
                  <c:v>8.186825876460734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36.40288294072962</c:v>
                </c:pt>
                <c:pt idx="1">
                  <c:v>2.29062276306371</c:v>
                </c:pt>
                <c:pt idx="2">
                  <c:v>28.632462892711132</c:v>
                </c:pt>
                <c:pt idx="3">
                  <c:v>3.6661910349545135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Receita captada</c:v>
                </c:pt>
                <c:pt idx="1">
                  <c:v>Sessões</c:v>
                </c:pt>
                <c:pt idx="2">
                  <c:v>CVR</c:v>
                </c:pt>
                <c:pt idx="3">
                  <c:v>TKM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25.888878508108437</c:v>
                </c:pt>
                <c:pt idx="1">
                  <c:v>-9.534671532846717</c:v>
                </c:pt>
                <c:pt idx="2">
                  <c:v>10.539586485123543</c:v>
                </c:pt>
                <c:pt idx="3">
                  <c:v>25.888878508108416</c:v>
                </c:pt>
              </c:numCache>
            </c:numRef>
          </c:val>
        </c:ser>
        <c:dLbls>
          <c:numFmt formatCode="+0&quot;%&quot;;-0&quot;%&quot;;0&quot;%&quot;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dPt>
            <c:idx val="0"/>
            <c:spPr>
              <a:solidFill>
                <a:srgbClr val="008300"/>
              </a:solidFill>
            </c:spPr>
          </c:dPt>
          <c:dPt>
            <c:idx val="1"/>
            <c:spPr>
              <a:solidFill>
                <a:srgbClr val="008300"/>
              </a:solidFill>
            </c:spPr>
          </c:dPt>
          <c:dPt>
            <c:idx val="2"/>
            <c:spPr>
              <a:solidFill>
                <a:srgbClr val="008300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E34948"/>
              </a:solidFill>
            </c:spPr>
          </c:dPt>
          <c:dPt>
            <c:idx val="5"/>
            <c:spPr>
              <a:solidFill>
                <a:srgbClr val="E34948"/>
              </a:solidFill>
            </c:spPr>
          </c:dPt>
          <c:dPt>
            <c:idx val="6"/>
            <c:spPr>
              <a:solidFill>
                <a:srgbClr val="E34948"/>
              </a:solidFill>
            </c:spPr>
          </c:dPt>
          <c:cat>
            <c:strRef>
              <c:f>Sheet1!$A$2:$A$8</c:f>
              <c:strCache>
                <c:ptCount val="7"/>
                <c:pt idx="0">
                  <c:v>(direct) / (none) x mobile</c:v>
                </c:pt>
                <c:pt idx="1">
                  <c:v>google / cpc x desktop</c:v>
                </c:pt>
                <c:pt idx="2">
                  <c:v>google / cpc x mobile</c:v>
                </c:pt>
                <c:pt idx="3">
                  <c:v>(direct) / (none) x desktop</c:v>
                </c:pt>
                <c:pt idx="4">
                  <c:v>bonifiq / SMS x mobile</c:v>
                </c:pt>
                <c:pt idx="5">
                  <c:v>crm / whatsapp x mobile</c:v>
                </c:pt>
                <c:pt idx="6">
                  <c:v>linktr.ee / referral x mobile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1.0413099979999998</c:v>
                </c:pt>
                <c:pt idx="1">
                  <c:v>1.845510009</c:v>
                </c:pt>
                <c:pt idx="2">
                  <c:v>3.0668700150000014</c:v>
                </c:pt>
                <c:pt idx="3">
                  <c:v>-0.43996999900000006</c:v>
                </c:pt>
                <c:pt idx="4">
                  <c:v>-0.444749998</c:v>
                </c:pt>
                <c:pt idx="5">
                  <c:v>-0.449969998</c:v>
                </c:pt>
                <c:pt idx="6">
                  <c:v>-0.480290004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FEFEF"/>
              </a:solidFill>
            </a:ln>
          </c:spPr>
        </c:majorGridlines>
        <c:numFmt formatCode="+0.0;-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Geral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-0.1463217003070949</c:v>
                </c:pt>
                <c:pt idx="1">
                  <c:v>-0.4959860000390254</c:v>
                </c:pt>
                <c:pt idx="2">
                  <c:v>4.9484997760859795</c:v>
                </c:pt>
                <c:pt idx="3">
                  <c:v>7.566889632107021</c:v>
                </c:pt>
                <c:pt idx="4">
                  <c:v>2.1998742928975523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</c:v>
                </c:pt>
              </c:strCache>
            </c:strRef>
          </c:tx>
          <c:spPr>
            <a:solidFill>
              <a:srgbClr val="2A78D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0.41330764243978635</c:v>
                </c:pt>
                <c:pt idx="1">
                  <c:v>-0.8431336901486036</c:v>
                </c:pt>
                <c:pt idx="2">
                  <c:v>5.443822773325269</c:v>
                </c:pt>
                <c:pt idx="3">
                  <c:v>7.400000000000001</c:v>
                </c:pt>
                <c:pt idx="4">
                  <c:v>5.287165664524151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Desktop</c:v>
                </c:pt>
              </c:strCache>
            </c:strRef>
          </c:tx>
          <c:spPr>
            <a:solidFill>
              <a:srgbClr val="EB683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Sessão → produto</c:v>
                </c:pt>
                <c:pt idx="1">
                  <c:v>Produto → carrinho</c:v>
                </c:pt>
                <c:pt idx="2">
                  <c:v>Carrinho → checkout</c:v>
                </c:pt>
                <c:pt idx="3">
                  <c:v>Checkout → pagamento</c:v>
                </c:pt>
                <c:pt idx="4">
                  <c:v>Pagamento → compra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-4.116977361334073</c:v>
                </c:pt>
                <c:pt idx="1">
                  <c:v>1.2083695055953636</c:v>
                </c:pt>
                <c:pt idx="2">
                  <c:v>2.1232876712328763</c:v>
                </c:pt>
                <c:pt idx="3">
                  <c:v>8.47723704866562</c:v>
                </c:pt>
                <c:pt idx="4">
                  <c:v>-11.739130434782608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  <a:latin typeface="Montserrat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EFEFE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EFEF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ontserrat Medium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95959"/>
          </a:solidFill>
          <a:latin typeface="Montserrat Medium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070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682496"/>
            <a:ext cx="6620256" cy="2176272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Setembro e tendência de outubro por bandeira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Gap da meta, origens, funil e onde o CRO deve atuar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242816"/>
            <a:ext cx="6373368" cy="749808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FEFE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GROWTH | CRO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FEFE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73152" y="-27432"/>
            <a:ext cx="2596896" cy="5202936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4952" y="301752"/>
            <a:ext cx="5751576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Sumário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18104" y="932688"/>
            <a:ext cx="5605272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3118104" y="1252728"/>
            <a:ext cx="5751576" cy="205740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31750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 Medium"/>
              <a:buAutoNum type="arabicPeriod"/>
            </a:pPr>
            <a:r>
              <a:rPr sz="14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Visão do Grupo</a:t>
            </a:r>
          </a:p>
          <a:p>
            <a:pPr algn="l" marL="457200" indent="-31750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 Medium"/>
              <a:buAutoNum type="arabicPeriod"/>
            </a:pPr>
            <a:r>
              <a:rPr sz="14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Oscar Calçados (web)</a:t>
            </a:r>
          </a:p>
          <a:p>
            <a:pPr algn="l" marL="457200" indent="-31750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 Medium"/>
              <a:buAutoNum type="arabicPeriod"/>
            </a:pPr>
            <a:r>
              <a:rPr sz="14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Oscar Calçados (app)</a:t>
            </a:r>
          </a:p>
          <a:p>
            <a:pPr algn="l" marL="457200" indent="-31750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 Medium"/>
              <a:buAutoNum type="arabicPeriod"/>
            </a:pPr>
            <a:r>
              <a:rPr sz="14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Paquetá Esportes</a:t>
            </a:r>
          </a:p>
          <a:p>
            <a:pPr algn="l" marL="457200" indent="-317500"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Montserrat Medium"/>
              <a:buAutoNum type="arabicPeriod"/>
            </a:pPr>
            <a:r>
              <a:rPr sz="14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Paquetá Calçados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463040"/>
            <a:ext cx="4764024" cy="17830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Visão do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178808"/>
            <a:ext cx="6373368" cy="658368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| CRO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Setembro e tendência de outubro por bandeira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Grupo: 75% da meta em setembro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Gap de R$ 409.475: R$ 85.531 de meta acima do faturado de agosto e R$ 323.944 de piora; conversão e volume pesam de forma parecida.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03120"/>
          <a:ext cx="832104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Atingimento da meta por bandeira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Setembro (01-30) e 01 a 05/10: Oscar web, app e Esportes ficam abaixo da meta nos dois períodos; Calçados supera a meta em outubro.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% do faturado sobre a meta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03120"/>
          <a:ext cx="832104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463040"/>
            <a:ext cx="4764024" cy="17830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Oscar Calçados (web)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178808"/>
            <a:ext cx="6373368" cy="658368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| CRO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Setembro e tendência de outubro por bandeira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Oscar web fechou setembro com 81% da meta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meta estava R$ 91 mil abaixo do faturado de agosto (R$ 713 mil); o gap decorre da piora de R$ 207 mil sobre agosto.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cascata em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011680"/>
          <a:ext cx="83210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Mobile concentra a queda de receita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Receita captada -R$ 186 mil (-17,4%): mobile -R$ 134 mil (CVR de 0,77% para 0,57%) e desktop -R$ 51 mil (sessões -18%, com CVR em alta).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variação % de setembro contra agosto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Google Ads mobile e desktop explicam o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Δ receita captada em R$ mil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Produto → carrinho é crítico no mobile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Mobile: produto → carrinho (-1,7 p.p.) e carrinho → checkout (-4,4 p.p.). Desktop sem etapa crítica: checkout → pagamento subiu de 68,6% para 72,6%.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variação em p.p. da taxa de passagem entre etapas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setembro: Oscar web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conversão. O CVR explica R$ 96 mil da piora de R$ 207 mil (1,20% → 1,02%), concentrado no mobile (0,77% → 0,57%); as sessões (-7,1%) pesam R$ 51 mil e o ticket compensa R$ 22 mil.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/ cpc x mobile (-R$ 129 mil; CVR 0,78% → 0,46%), google / cpc x desktop (-R$ 70 mil; sessões -32%) e Meta Ads x mobile (-R$ 8 mil; sessões -44%).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geral e mobile, produto → carrinho (-1,5 e -1,7 p.p.) e, no mobile, carrinho → checkout (-4,4 p.p.). No desktop, nenhuma etapa piorou de forma relevante.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priorizar a página de produto e o carrinho no mobile. Se o mobile voltasse ao CVR de agosto (0,77%), a receita captada seria cerca de R$ 130 mil maior no mês.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Oscar web: 75% da meta de 01 a 05/10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de R$ 65 mil está 8,7% acima de 03-07/09 e 5,6% abaixo de 24-28/09; a meta proporcional é de R$ 87 mil.</a:t>
            </a:r>
          </a:p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de outubro ainda amadurece: equivale a cerca de 33% do captado nos dias 01 a 04, contra 57% em setembro.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 Geral (pedidos e GMV captado), GA4 e planilha de metas | 01 a 05/10 contra 03-07/09 e 24-28/09 |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788920"/>
          <a:ext cx="8321040" cy="1691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Menos sessões, mais conversão em outubro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GMV captado é de R$ 148,5 mil (+6% e +11%), com 40% e 22% menos sessões; CVR de 1,48% e ticket de R$ 361.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 Geral (pedidos e GMV captado), GA4 e planilha de metas | 01 a 05/10 contra 03-07/09 e 24-28/09 | variação % de 01-05 contra 24-28/09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Google Ads segue abaixo das referências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 Geral (pedidos e GMV captado), GA4 e planilha de metas | 01 a 05/10 contra 03-07/09 e 24-28/09 | Δ receita captada contra 24-28/09, em R$ mil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Nemu confirma bots e checkout subcontado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 06/10 (parcial), as visualizações de página já são o dobro da média diária, com menos da metade das de produto: onda de bots.</a:t>
            </a:r>
          </a:p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checkout (280) é menor que os pedidos de 01 a 05/10 (354 no GA4; 411 no Geral): o evento está subcontado desde 01/10.</a:t>
            </a:r>
          </a:p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Estimativa: cerca de 40% das visualizações de página de 01 a 05/10 não são humanas (219 mil contra cerca de 130 mil esperadas).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Nemu (funil por páginas), GA4 e base Geral | Oscar web | índice: média diária de 01 a 05/10 = 100; 06/10 parcial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971800"/>
          <a:ext cx="8321040" cy="1508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Funil estimado: mais intenção por sessão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Sessões por etapa (GA4) contra 24-28/09: a sessão para produto cai 7,6 p.p.; produto → carrinho segue estável (7,1%); mais carrinhos viram compra (33% contra 23%), provável efeito de mix com menos tráfego pago. O checkout não é mensurável.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GA4 (sessões que chegam a cada etapa) | Oscar web, 01 a 05/10 | estimativa; variação em p.p.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468880"/>
          <a:ext cx="832104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outubro: Oscar web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 Geral (pedidos e GMV captado), GA4 e planilha de metas | 01 a 05/10 contra 03-07/09 e 24-28/09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volume. As sessões estão 40% e 22% abaixo das referências (27,8 mil); a conversão (1,48%) e o ticket (R$ 361) compensam, em parte por mix (menos tráfego pago e mais direto e CRM), e o GMV captado se mantém 6% e 11% acima.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/ cpc x mobile (-R$ 6,7 mil; 29 pedidos contra 64) e google / cpc x desktop (-R$ 6,2 mil; 45 contra 68), contra 24-28/09. Compensam direto mobile (+R$ 11,8 mil), direto desktop (+R$ 8,8 mil) e crm / web_push desktop (+R$ 6,6 mil).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 (estimadas):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sessão → produto cai de 67,6% para 60,0% (-7,6 p.p.); produto → carrinho segue estável (7,1%) e mais carrinhos viram compra (33% contra 23%). O checkout não é mensurável: 280 na Nemu, abaixo dos 411 pedidos.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levar mais sessões ao produto, retomar o google / cpc e o Meta Ads, validar com a Tec4U e a Deco o checkout (deploy de 30/09 a 01/10) e pedir à Nemu um filtro de bots.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463040"/>
            <a:ext cx="4764024" cy="17830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Oscar Calçados (app)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178808"/>
            <a:ext cx="6373368" cy="658368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| CRO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Setembro e tendência de outubro por bandeira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App: 82% da meta em setembro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meta estava no nível do faturado de agosto (R$ 327 mil); o gap decorre da piora de R$ 57 mil.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contra agosto; app: CVR e TKM de 01 a 24/09 (compra duplicada desde 25/09) | cascata em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011680"/>
          <a:ext cx="83210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iOS perde mais receita que o Android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Receita captada projetada -R$ 51 mil (-14,8%): iOS -R$ 39 mil (sessões -12%, CVR de 2,26% para 2,05%) e Android -R$ 11 mil (sessões -8%).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contra agosto; app: CVR e TKM de 01 a 24/09 (compra duplicada desde 25/09) | variação % de setembro contra agosto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Google Ads no iOS é a maior perda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contra agosto; app: CVR e TKM de 01 a 24/09 (compra duplicada desde 25/09) | Δ receita captada em R$ mil | Set inclui compra duplicada após 25/09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No app, a perda está no topo do funil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iOS: sessão → produto (-5,0 p.p.). Android: produto → carrinho (-2,2 p.p.) e sessão → produto (-2,1 p.p.). O checkout não piora.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contra agosto; app: CVR e TKM de 01 a 24/09 (compra duplicada desde 25/09) | variação em p.p. da taxa de passagem entre etapas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setembro: App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contra agosto; app: CVR e TKM de 01 a 24/09 (compra duplicada desde 25/09)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conversão e volume. O CVR explica R$ 33 mil (1,27% → 1,14%) e as sessões R$ 29 mil (-8,8%) da piora de R$ 57 mil; o ticket compensa R$ 12 mil. O iOS concentra a perda de receita.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/ cpc x iOS (-R$ 24 mil; sessões -30%), google-play / organic x Android (-R$ 6 mil; CVR 1,44% → 0,88%) e google / cpc x Android (-R$ 5 mil). O push, somadas as grafias, perde 13% das sessões, com receita estável.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geral, sessão → produto (-3,0 p.p.) e produto → carrinho (-2,1 p.p.); iOS, sessão → produto (-5,0 p.p.); Android, produto → carrinho (-2,2 p.p.).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levar mais sessões ao produto e ao carrinho, com foco no iOS, e corrigir a duplicação de compra da versão de 25/09 para voltar a medir a conversão com segurança.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App: 67% da meta de 01 a 05/10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meta de R$ 51,8 mil exige 43% mais que o faturado de 24-28/09 (R$ 36,2 mil); o faturado de 01 a 05/10 é de R$ 34,7 mil.</a:t>
            </a:r>
          </a:p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está 4% abaixo de 24-28/09 e 14% acima de 03-07/09, com sessões estáveis.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24-28/09; receita do app pelo faturado |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788920"/>
          <a:ext cx="8321040" cy="1691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Sessões estáveis; conversão sem leitura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Sessões de 11,8 mil (+0,4% e +7,8%). Receita, CVR e TKM do GA4 não são comparáveis em outubro por causa da compra duplicada; a receita vem do faturado.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24-28/09; receita do app pelo faturado | variação % de 01-05 contra as referências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Push perde sessões em outubro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24-28/09; receita do app pelo faturado | Δ sessões contra 24-28/09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Produto → carrinho cai nos dois sistemas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Contra 24-28/09: geral, produto → carrinho (-3,4 p.p.) e checkout → pagamento (-4,5 p.p.); Android, produto → carrinho (-3,9 p.p.); iOS, sessão → produto (-5,0 p.p.) e checkout → pagamento (-6,6 p.p.).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24-28/09; receita do app pelo faturado | variação em p.p. da taxa de passagem contra 24-28/09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286000"/>
          <a:ext cx="83210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outubro: App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24-28/09; receita do app pelo faturado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meta acima do ritmo. As sessões estão estáveis e o faturado (R$ 34,7 mil) está 4% abaixo de 24-28/09, enquanto a meta pede 43% a mais. Conversão e ticket do GA4 não são comparáveis em outubro.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 sessões contra 24-28/09, push (soma das grafias) com 678 contra 1.179 (-42%); crm / app_push x Android com 439 contra 897 é a maior queda individual.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produto → carrinho (-3,4 p.p. no geral; -3,9 p.p. no Android), checkout → pagamento (-4,5 p.p.; iOS -6,6 p.p.) e sessão → produto no iOS (-5,0 p.p.). Leitura indicativa, com 5 dias.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priorizar produto → carrinho e checkout → pagamento nos dois sistemas, a sessão para produto no iOS e a retomada do push, além de corrigir a compra duplicada.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463040"/>
            <a:ext cx="4764024" cy="17830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Paquetá Esportes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178808"/>
            <a:ext cx="6373368" cy="658368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| CRO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Setembro e tendência de outubro por bandeira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Esportes: 61% da meta em setembro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meta (R$ 549 mil) exigia 43% mais que o faturado de agosto (R$ 383 mil): R$ 166 mil do gap vêm do nível da meta.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cascata em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011680"/>
          <a:ext cx="83210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Esportes perde volume nos dois devices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Receita captada -R$ 30 mil (-8,6%): mobile -R$ 18 mil (sessões -13,4%) e desktop -R$ 13 mil (sessões -10,7%, CVR de 0,86% para 0,74%).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variação % de setembro contra agosto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Google Ads mobile é a maior perda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Δ receita captada em R$ mil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Checkout do desktop é a etapa crítica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Desktop: checkout → pagamento -9,5 p.p. (46,3% → 36,8%) e carrinho → checkout -4,4 p.p. Mobile: sessão → produto -4,0 p.p. e checkout → pagamento -2,8 p.p.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variação em p.p. da taxa de passagem entre etapas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setembro: Esportes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volume, somado a uma meta 43% acima de agosto. As sessões (-12,9%) pesam R$ 49 mil da piora de R$ 50 mil; CVR (0,71%) e ticket (R$ 400) não explicam a queda.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/ cpc x mobile (-R$ 22 mil; sessões -8%), direto x desktop (-R$ 4 mil), google / organic x desktop (-R$ 4 mil; CVR 0,48% → 0,28%) e google / cpc x desktop (-R$ 3 mil).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geral, checkout → pagamento (-3,9 p.p.); desktop, checkout → pagamento (-9,5 p.p.) e carrinho → checkout (-4,4 p.p.); mobile, sessão → produto (-4,0 p.p.).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revisar o checkout do desktop e levar mais sessões ao produto no mobile. Se o desktop voltasse à conclusão de checkout de agosto, a receita captada seria cerca de R$ 19 mil maior no mês.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Esportes: 91% da meta de 01 a 05/10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de R$ 51,6 mil está 19,8% acima de 03-07/09 e 2,4% acima de 24-28/09; a meta proporcional é de R$ 56,4 mil.</a:t>
            </a:r>
          </a:p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de outubro ainda amadurece: equivale a cerca de 82% do captado nos dias 01 a 04.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788920"/>
          <a:ext cx="8321040" cy="1691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Esportes mantém conversão com menos sessões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Sessões de 17,6 mil (-6% e -11%); CVR de 0,65% estável; ticket de R$ 441 (+7% e +4%). A receita captada é -5% contra 03-07/09 e +13% contra 24-28/09.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variação % de 01-05 contra 24-28/09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Orgânico e Ads desktop perdem receita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Δ receita captada contra 24-28/09, em R$ mil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Desktop vaza entre carrinho e checkout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Contra 24-28/09: desktop, carrinho → checkout -8,2 p.p. e pagamento → compra -12,6 p.p. (base de 5 dias); geral e mobile, produto → carrinho -1,5 e -1,6 p.p.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variação em p.p. da taxa de passagem contra 24-28/09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286000"/>
          <a:ext cx="83210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outubro: Esportes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volume. As sessões estão 6% e 11% abaixo das referências; CVR (0,65%) e ticket (R$ 441) se mantêm ou sobem. O gap contra a meta é pequeno (-R$ 4,8 mil).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 / organic x mobile (-R$ 2,1 mil; 5 pedidos contra 7), google / cpc x desktop (-R$ 2,1 mil) e bing / organic x desktop (-R$ 1,2 mil). Compensam google / cpc x mobile (+R$ 6,9 mil) e direto x mobile (+R$ 2,5 mil).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desktop, carrinho → checkout (-8,2 p.p.) e pagamento → compra (-12,6 p.p.); geral e mobile, produto → carrinho (-1,5 e -1,6 p.p.). Leitura indicativa, com 5 dias.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manter o foco no checkout do desktop e na página de produto (produto → carrinho), e recuperar o tráfego orgânico no mobile.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43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9184" y="1463040"/>
            <a:ext cx="4764024" cy="17830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Paquetá Calçados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178808"/>
            <a:ext cx="6373368" cy="658368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| CRO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Setembro e tendência de outubro por bandeira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Calçados fechou setembro com 88% da meta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meta estava R$ 9 mil acima do faturado de agosto (R$ 138 mil); a piora sobre agosto foi de R$ 9 mil.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cascata em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011680"/>
          <a:ext cx="832104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 ticket do desktop explica a queda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Receita captada -R$ 9 mil (-6,8%): desktop -R$ 8 mil (TKM de R$ 299 para R$ 235) e mobile -R$ 1 mil; sessões e CVR estáveis.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variação % de setembro contra agosto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Meta Ads mobile é a maior perda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Δ receita captada em R$ mil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Produto → carrinho cai nos dois devices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Produto → carrinho cai 0,9 p.p. no geral, no mobile e no desktop (cerca de -11% em termos relativos); no desktop, carrinho → checkout cai 5,8 p.p. Sessão → produto melhora 3,6 p.p.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 | variação em p.p. da taxa de passagem entre etapas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setembro: Calçados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setembro (01-30) contra agosto (01-30)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ticket. O TKM explica R$ 10 mil da piora de R$ 9 mil (R$ 288 → R$ 267; desktop de R$ 299 para R$ 235); as sessões (-0,4%) e o CVR (0,64%) ficaram estáveis.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Meta Ads x mobile (-R$ 4 mil; sessões -22%, CVR 0,37% → 0,28%), referral / gaston x mobile (-R$ 2 mil; sessões -46%) e (not set) x desktop (-R$ 2 mil). O google / cpc x mobile compensa em R$ 3 mil.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produto → carrinho no geral e nos dois devices (-0,9 p.p.) e carrinho → checkout no desktop (-5,8 p.p.).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melhorar a passagem de produto para carrinho, o carrinho do desktop e o ticket do desktop; voltar ao ticket de agosto no desktop adicionaria cerca de R$ 7 mil de receita captada no mês.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Calçados supera a meta de 01 a 05/10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de R$ 28,0 mil está 70% acima de 03-07/09 e 31% acima de 24-28/09; a meta proporcional é de R$ 21,6 mil (130%).</a:t>
            </a:r>
          </a:p>
          <a:p>
            <a:pPr algn="l" marL="457200" indent="-292100">
              <a:spcBef>
                <a:spcPts val="1400"/>
              </a:spcBef>
              <a:spcAft>
                <a:spcPts val="0"/>
              </a:spcAft>
              <a:buClr>
                <a:srgbClr val="12D000"/>
              </a:buClr>
              <a:buSzPts val="1000"/>
              <a:buFont typeface="Montserrat Medium"/>
              <a:buChar char="●"/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faturado equivale a cerca de 94% do captado nos dias 01 a 04, próximo do normal.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R$ mil de faturado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788920"/>
          <a:ext cx="8321040" cy="1691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Conversão puxa a receita de Calçados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Sessões de 10,6 mil (-17% e 0%), CVR de 0,88% (contra 0,59% e 0,71%) e ticket de R$ 264; a receita captada sobe 15% e 34%.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variação % de 01-05 contra 24-28/09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148840"/>
          <a:ext cx="83210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Google Ads sustenta o ganho de outubro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Δ receita captada contra 24-28/09, em R$ mil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051560"/>
          <a:ext cx="832104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Desktop concentra as etapas críticas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1197864"/>
            <a:ext cx="8458200" cy="2523744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Contra 24-28/09: desktop, sessão → produto -4,1 p.p. e pagamento → compra -11,7 p.p. (base pequena); geral, produto → carrinho -0,5 p.p. Checkout → pagamento melhora 7,6 p.p.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 | variação em p.p. da taxa de passagem contra 24-28/09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2286000"/>
          <a:ext cx="83210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301752"/>
            <a:ext cx="8458200" cy="63093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Resumo de outubro: Calçados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32688"/>
            <a:ext cx="8247887" cy="0"/>
          </a:xfrm>
          <a:prstGeom prst="line">
            <a:avLst/>
          </a:prstGeom>
          <a:ln w="19050">
            <a:solidFill>
              <a:srgbClr val="EFEFEF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411480" y="4553712"/>
            <a:ext cx="8458200" cy="310896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7B7B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Dados do GA4 e planilha de metas | 01 a 05/10 contra 03-07/09 e 24-28/09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8458200" cy="3383280"/>
          </a:xfrm>
          <a:prstGeom prst="rect">
            <a:avLst/>
          </a:prstGeom>
          <a:noFill/>
        </p:spPr>
        <p:txBody>
          <a:bodyPr wrap="square" lIns="91425" rIns="91425" tIns="91425" bIns="91425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Principal motivo da queda: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não há queda. A receita sobe por conversão (CVR de 0,88% contra 0,71% em 24-28/09), com sessões estáveis e ticket 8% acima de 24-28/09.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Origem / mídia x device: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sem perdas relevantes (todas abaixo de R$ 0,5 mil). Compensam google / cpc x mobile (+R$ 3,1 mil; 45 pedidos contra 31), google / cpc x desktop (+R$ 1,8 mil) e direto x mobile (+R$ 1,0 mil).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Etapas críticas: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desktop, sessão → produto (-4,1 p.p.) e pagamento → compra (-11,7 p.p.); geral, produto → carrinho (-0,5 p.p.). Leitura indicativa, com 5 dias.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Onde o CRO deve atuar: </a:t>
            </a:r>
            <a:r>
              <a:rPr sz="1300" b="0" i="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devemos sustentar o ganho de conversão do google / cpc e acompanhar a página de produto (produto → carrinho em 8,1%) e o desktop (pagamento → compra).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